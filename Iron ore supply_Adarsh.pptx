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F77"/>
    <a:srgbClr val="04A5C2"/>
    <a:srgbClr val="024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90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 descr="South America with solid fill">
            <a:extLst>
              <a:ext uri="{FF2B5EF4-FFF2-40B4-BE49-F238E27FC236}">
                <a16:creationId xmlns:a16="http://schemas.microsoft.com/office/drawing/2014/main" id="{F87DAC79-D63F-8756-F2C4-4B1CD8C20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0480" y="624736"/>
            <a:ext cx="1295421" cy="1295421"/>
          </a:xfrm>
          <a:prstGeom prst="rect">
            <a:avLst/>
          </a:prstGeom>
        </p:spPr>
      </p:pic>
      <p:pic>
        <p:nvPicPr>
          <p:cNvPr id="25" name="Graphic 24" descr="Africa with solid fill">
            <a:extLst>
              <a:ext uri="{FF2B5EF4-FFF2-40B4-BE49-F238E27FC236}">
                <a16:creationId xmlns:a16="http://schemas.microsoft.com/office/drawing/2014/main" id="{BBC69090-C1B5-7C22-5B1D-D1228032A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6470" y="294718"/>
            <a:ext cx="1381805" cy="1381805"/>
          </a:xfrm>
          <a:prstGeom prst="rect">
            <a:avLst/>
          </a:prstGeom>
        </p:spPr>
      </p:pic>
      <p:pic>
        <p:nvPicPr>
          <p:cNvPr id="23" name="Graphic 22" descr="North America with solid fill">
            <a:extLst>
              <a:ext uri="{FF2B5EF4-FFF2-40B4-BE49-F238E27FC236}">
                <a16:creationId xmlns:a16="http://schemas.microsoft.com/office/drawing/2014/main" id="{752D2375-2420-E74C-2ACD-3C36CBB3E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7735" y="3644605"/>
            <a:ext cx="1916810" cy="1916810"/>
          </a:xfrm>
          <a:prstGeom prst="rect">
            <a:avLst/>
          </a:prstGeom>
        </p:spPr>
      </p:pic>
      <p:pic>
        <p:nvPicPr>
          <p:cNvPr id="19" name="Graphic 18" descr="Asia with solid fill">
            <a:extLst>
              <a:ext uri="{FF2B5EF4-FFF2-40B4-BE49-F238E27FC236}">
                <a16:creationId xmlns:a16="http://schemas.microsoft.com/office/drawing/2014/main" id="{E7E18E3B-0F0C-CCDE-1AF9-404E4AF78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013" y="1027707"/>
            <a:ext cx="2024982" cy="202498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FB99341-97CE-35BF-BC0B-5D0342CD90D0}"/>
              </a:ext>
            </a:extLst>
          </p:cNvPr>
          <p:cNvSpPr/>
          <p:nvPr/>
        </p:nvSpPr>
        <p:spPr>
          <a:xfrm>
            <a:off x="0" y="3336090"/>
            <a:ext cx="9144000" cy="1807409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09F930D2-9468-D8AD-D02D-EF74B267F145}"/>
              </a:ext>
            </a:extLst>
          </p:cNvPr>
          <p:cNvSpPr/>
          <p:nvPr/>
        </p:nvSpPr>
        <p:spPr>
          <a:xfrm>
            <a:off x="748404" y="3147645"/>
            <a:ext cx="8395596" cy="188443"/>
          </a:xfrm>
          <a:prstGeom prst="rect">
            <a:avLst/>
          </a:prstGeom>
          <a:solidFill>
            <a:srgbClr val="92D050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7E8CF0E-6E20-C07F-66B8-EE76EEF50DA6}"/>
              </a:ext>
            </a:extLst>
          </p:cNvPr>
          <p:cNvSpPr/>
          <p:nvPr/>
        </p:nvSpPr>
        <p:spPr>
          <a:xfrm>
            <a:off x="967860" y="1261872"/>
            <a:ext cx="8321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  <a:sp3d extrusionH="31750"/>
          </a:bodyPr>
          <a:lstStyle/>
          <a:p>
            <a:pPr marL="0" indent="0">
              <a:buNone/>
            </a:pPr>
            <a:r>
              <a:rPr lang="en-US" sz="5200" b="1" dirty="0">
                <a:solidFill>
                  <a:srgbClr val="024CA1"/>
                </a:solidFill>
                <a:effectLst>
                  <a:outerShdw blurRad="12700" dist="38100" dir="5400000" algn="ctr" rotWithShape="0">
                    <a:srgbClr val="000000"/>
                  </a:outerShdw>
                </a:effectLst>
                <a:latin typeface="Archivo" pitchFamily="34" charset="0"/>
                <a:ea typeface="Archivo" pitchFamily="34" charset="-122"/>
                <a:cs typeface="Archivo" pitchFamily="34" charset="-120"/>
              </a:rPr>
              <a:t>IRON </a:t>
            </a:r>
            <a:r>
              <a:rPr lang="en-US" sz="5200" b="1" dirty="0">
                <a:solidFill>
                  <a:srgbClr val="024CA1"/>
                </a:solidFill>
                <a:effectLst>
                  <a:outerShdw blurRad="12700" dist="38100" dir="5400000" algn="ctr" rotWithShape="0">
                    <a:srgbClr val="000000">
                      <a:alpha val="85000"/>
                    </a:srgbClr>
                  </a:outerShdw>
                </a:effectLst>
                <a:latin typeface="Archivo" pitchFamily="34" charset="0"/>
                <a:ea typeface="Archivo" pitchFamily="34" charset="-122"/>
                <a:cs typeface="Archivo" pitchFamily="34" charset="-120"/>
              </a:rPr>
              <a:t>ORE</a:t>
            </a:r>
            <a:r>
              <a:rPr lang="en-US" sz="5200" b="1" dirty="0">
                <a:solidFill>
                  <a:srgbClr val="024CA1"/>
                </a:solidFill>
                <a:effectLst>
                  <a:outerShdw blurRad="12700" dist="38100" dir="5400000" algn="ctr" rotWithShape="0">
                    <a:srgbClr val="000000"/>
                  </a:outerShdw>
                </a:effectLst>
                <a:latin typeface="Archivo" pitchFamily="34" charset="0"/>
                <a:ea typeface="Archivo" pitchFamily="34" charset="-122"/>
                <a:cs typeface="Archivo" pitchFamily="34" charset="-120"/>
              </a:rPr>
              <a:t> 2030</a:t>
            </a:r>
            <a:endParaRPr lang="en-US" sz="5200" dirty="0">
              <a:solidFill>
                <a:srgbClr val="024CA1"/>
              </a:solidFill>
              <a:effectLst>
                <a:outerShdw blurRad="12700" dist="38100" dir="5400000" algn="ctr" rotWithShape="0">
                  <a:srgbClr val="000000"/>
                </a:outerShdw>
              </a:effectLst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4D116D2-E81F-D8AC-FA01-AA8141753812}"/>
              </a:ext>
            </a:extLst>
          </p:cNvPr>
          <p:cNvSpPr/>
          <p:nvPr/>
        </p:nvSpPr>
        <p:spPr>
          <a:xfrm>
            <a:off x="967860" y="2280435"/>
            <a:ext cx="8190208" cy="685800"/>
          </a:xfrm>
          <a:prstGeom prst="rect">
            <a:avLst/>
          </a:prstGeom>
          <a:noFill/>
          <a:ln/>
          <a:effectLst>
            <a:outerShdw dir="5400000" algn="ctr" rotWithShape="0">
              <a:schemeClr val="bg1"/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b="1" dirty="0">
              <a:solidFill>
                <a:srgbClr val="FF0000"/>
              </a:solidFill>
              <a:effectLst>
                <a:outerShdw blurRad="12700" dist="38100" dir="5400000" algn="ctr" rotWithShape="0">
                  <a:srgbClr val="000000"/>
                </a:outerShdw>
              </a:effectLst>
              <a:latin typeface="Archivo" pitchFamily="34" charset="0"/>
              <a:cs typeface="Archivo" pitchFamily="34" charset="-12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C737AA2-F661-5B27-5D2E-099705527607}"/>
              </a:ext>
            </a:extLst>
          </p:cNvPr>
          <p:cNvSpPr/>
          <p:nvPr/>
        </p:nvSpPr>
        <p:spPr>
          <a:xfrm>
            <a:off x="967860" y="34310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CASE ANALYSIS: New Mines, Structural Surplus, and the Price Reckoning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F3BCA14-6B10-0687-D9A8-CB5B750F54FA}"/>
              </a:ext>
            </a:extLst>
          </p:cNvPr>
          <p:cNvSpPr/>
          <p:nvPr/>
        </p:nvSpPr>
        <p:spPr>
          <a:xfrm>
            <a:off x="967860" y="3863163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C4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Scope: </a:t>
            </a:r>
            <a:r>
              <a:rPr lang="en-US" sz="1000" b="1" dirty="0">
                <a:solidFill>
                  <a:srgbClr val="BBDD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Global Seaborne Iron Ore Supply  |  2025-2030</a:t>
            </a:r>
            <a:endParaRPr lang="en-US" sz="1000" b="1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7418A9A9-08FF-05F5-D29A-49AC8DED87A0}"/>
              </a:ext>
            </a:extLst>
          </p:cNvPr>
          <p:cNvSpPr/>
          <p:nvPr/>
        </p:nvSpPr>
        <p:spPr>
          <a:xfrm>
            <a:off x="967860" y="46268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95000"/>
                  </a:scheme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April 2026  |  Research &amp; Analytics | Adarsh Sahu  </a:t>
            </a:r>
            <a:endParaRPr lang="en-US" sz="8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4762511A-DE15-C389-0F90-90BFAFF20885}"/>
              </a:ext>
            </a:extLst>
          </p:cNvPr>
          <p:cNvSpPr/>
          <p:nvPr/>
        </p:nvSpPr>
        <p:spPr>
          <a:xfrm>
            <a:off x="-21102" y="-2110"/>
            <a:ext cx="815460" cy="5143500"/>
          </a:xfrm>
          <a:prstGeom prst="rect">
            <a:avLst/>
          </a:prstGeom>
          <a:solidFill>
            <a:srgbClr val="F67F77"/>
          </a:solidFill>
          <a:ln w="1270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 descr="Improving iron ore sintering process performance - CSIRO">
            <a:extLst>
              <a:ext uri="{FF2B5EF4-FFF2-40B4-BE49-F238E27FC236}">
                <a16:creationId xmlns:a16="http://schemas.microsoft.com/office/drawing/2014/main" id="{870C4576-8787-E587-5926-CFE2C5E7B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1" t="78" r="20077"/>
          <a:stretch>
            <a:fillRect/>
          </a:stretch>
        </p:blipFill>
        <p:spPr bwMode="auto">
          <a:xfrm>
            <a:off x="6049107" y="0"/>
            <a:ext cx="3108961" cy="31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0393D9A-B323-4E1B-BB20-A74198A6A141}"/>
              </a:ext>
            </a:extLst>
          </p:cNvPr>
          <p:cNvSpPr/>
          <p:nvPr/>
        </p:nvSpPr>
        <p:spPr>
          <a:xfrm>
            <a:off x="-35170" y="0"/>
            <a:ext cx="429065" cy="514350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Graphic 14" descr="Australia with solid fill">
            <a:extLst>
              <a:ext uri="{FF2B5EF4-FFF2-40B4-BE49-F238E27FC236}">
                <a16:creationId xmlns:a16="http://schemas.microsoft.com/office/drawing/2014/main" id="{01DBE214-7700-1741-F147-A41652E49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28627" y="170762"/>
            <a:ext cx="1508358" cy="1508358"/>
          </a:xfrm>
          <a:prstGeom prst="rect">
            <a:avLst/>
          </a:prstGeom>
        </p:spPr>
      </p:pic>
      <p:pic>
        <p:nvPicPr>
          <p:cNvPr id="27" name="Graphic 26" descr="Europe with solid fill">
            <a:extLst>
              <a:ext uri="{FF2B5EF4-FFF2-40B4-BE49-F238E27FC236}">
                <a16:creationId xmlns:a16="http://schemas.microsoft.com/office/drawing/2014/main" id="{EFC9D0E5-CAC5-2D09-815C-730ADA78F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569" y="259556"/>
            <a:ext cx="1495226" cy="1251314"/>
          </a:xfrm>
          <a:prstGeom prst="rect">
            <a:avLst/>
          </a:prstGeom>
        </p:spPr>
      </p:pic>
      <p:pic>
        <p:nvPicPr>
          <p:cNvPr id="29" name="Graphic 28" descr="Earth globe: Africa and Europe with solid fill">
            <a:extLst>
              <a:ext uri="{FF2B5EF4-FFF2-40B4-BE49-F238E27FC236}">
                <a16:creationId xmlns:a16="http://schemas.microsoft.com/office/drawing/2014/main" id="{AF8E76F0-33F6-CC0A-10C2-0E4242EBC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86950" y="3877055"/>
            <a:ext cx="914400" cy="914400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93DA0894-9D5F-107B-8A5E-2EDE2800B211}"/>
              </a:ext>
            </a:extLst>
          </p:cNvPr>
          <p:cNvSpPr/>
          <p:nvPr/>
        </p:nvSpPr>
        <p:spPr>
          <a:xfrm>
            <a:off x="801392" y="-2462"/>
            <a:ext cx="8356676" cy="251460"/>
          </a:xfrm>
          <a:prstGeom prst="rect">
            <a:avLst/>
          </a:prstGeom>
          <a:solidFill>
            <a:srgbClr val="024CA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4C4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MARKET INTELLIGENCE</a:t>
            </a:r>
            <a:endParaRPr lang="en-US" sz="85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DAD090-C6A0-595C-161E-5435273BE675}"/>
              </a:ext>
            </a:extLst>
          </p:cNvPr>
          <p:cNvSpPr txBox="1"/>
          <p:nvPr/>
        </p:nvSpPr>
        <p:spPr>
          <a:xfrm>
            <a:off x="925190" y="2342271"/>
            <a:ext cx="484959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200" b="1" dirty="0">
                <a:ln w="9525" cmpd="dbl">
                  <a:solidFill>
                    <a:srgbClr val="C00000">
                      <a:alpha val="94000"/>
                    </a:srgbClr>
                  </a:solidFill>
                </a:ln>
                <a:solidFill>
                  <a:srgbClr val="FF0000"/>
                </a:solidFill>
                <a:latin typeface="Archivo" pitchFamily="2" charset="0"/>
                <a:cs typeface="Archivo" pitchFamily="2" charset="0"/>
              </a:rPr>
              <a:t>THE SUPPLY WAVE</a:t>
            </a:r>
          </a:p>
        </p:txBody>
      </p:sp>
    </p:spTree>
    <p:extLst>
      <p:ext uri="{BB962C8B-B14F-4D97-AF65-F5344CB8AC3E}">
        <p14:creationId xmlns:p14="http://schemas.microsoft.com/office/powerpoint/2010/main" val="259585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7795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74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This Study Addresses: Five Key Questions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50292" cy="658368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" y="8229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big is the supply wave?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06424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 is adding tonnes, when, and at what cost. Three-wave pipeline 2025-2032.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73168" y="822960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6032" y="1581912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6032" y="1581912"/>
            <a:ext cx="50292" cy="65836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" y="16276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2.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Gross vs. net - the critical distinction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1911096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Rio's ~130 Mtpa Australian replacement programme adds ~zero net seaborne supply. Most analyses miss this.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73168" y="1627632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81178" y="2368296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6032" y="2386584"/>
            <a:ext cx="50292" cy="658368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9184" y="24323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3.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432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does Simandou actually add?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715768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Rio's 5-10 Mt guidance = SimFer equity only. Combined WCS+SimFer = 25-35 Mt in CY2026. 3-4x more.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73168" y="2432304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6032" y="3191256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5029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" y="32369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4.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236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 FY2026 = 310 </a:t>
            </a:r>
            <a:r>
              <a:rPr lang="en-US" sz="1000" b="1" dirty="0" err="1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- lagging slight against steel production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FY2025 = 289 Mt. FY2026 = 310 Mt. Different fiscal years. Matters for supply-demand modelling.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3236976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6032" y="3995928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56032" y="3995928"/>
            <a:ext cx="5029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9184" y="40416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5.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does price settle by 2030?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325112"/>
            <a:ext cx="8174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 case $75-82/dmt (IODEX 61% Fe). Grade bifurcation: DR-grade resilient; 58% Fe discount widens.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4041648"/>
            <a:ext cx="3657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</a:t>
            </a:r>
            <a:endParaRPr lang="en-US" sz="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3D Model 38" descr="Question Mark 02">
                <a:extLst>
                  <a:ext uri="{FF2B5EF4-FFF2-40B4-BE49-F238E27FC236}">
                    <a16:creationId xmlns:a16="http://schemas.microsoft.com/office/drawing/2014/main" id="{F2B7DD72-9532-AB57-ADF1-896C1B3B42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8306448"/>
                  </p:ext>
                </p:extLst>
              </p:nvPr>
            </p:nvGraphicFramePr>
            <p:xfrm>
              <a:off x="6563156" y="1063287"/>
              <a:ext cx="2066791" cy="330496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66791" cy="3304961"/>
                    </a:xfrm>
                    <a:prstGeom prst="rect">
                      <a:avLst/>
                    </a:prstGeom>
                  </am3d:spPr>
                  <am3d:camera>
                    <am3d:pos x="0" y="0" z="558866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11" d="1000000"/>
                    <am3d:preTrans dx="-3923002" dy="-17981274" dz="440453"/>
                    <am3d:scale>
                      <am3d:sx n="1000000" d="1000000"/>
                      <am3d:sy n="1000000" d="1000000"/>
                      <am3d:sz n="1000000" d="1000000"/>
                    </am3d:scale>
                    <am3d:rot ax="456929" ay="60353" az="806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907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3D Model 38" descr="Question Mark 02">
                <a:extLst>
                  <a:ext uri="{FF2B5EF4-FFF2-40B4-BE49-F238E27FC236}">
                    <a16:creationId xmlns:a16="http://schemas.microsoft.com/office/drawing/2014/main" id="{F2B7DD72-9532-AB57-ADF1-896C1B3B42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3156" y="1063287"/>
                <a:ext cx="2066791" cy="330496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7795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7795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BENCHMARK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IODEX 62% → 61% Fe: What Changed and Why It Matters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8631936" cy="438912"/>
          </a:xfrm>
          <a:prstGeom prst="rect">
            <a:avLst/>
          </a:prstGeom>
          <a:solidFill>
            <a:srgbClr val="E8F4FD"/>
          </a:solidFill>
          <a:ln w="1016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Global iron ore fines index shifted from 62% Fe to 61% Fe specification effective January 2, 2026. Transitional 61/62% basis spread ~$1.5-2/t published.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298448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Price Interpretation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352" y="1645920"/>
            <a:ext cx="388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All 2026+ IODEX readings = 61% Fe basis. Historical 2021-2025 was 62% Fe basis. The ~$1.5-2/t difference is NOT material at a 5-year horizon. This study's 2030 scenario ranges ($65-100/t) are unchanged.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2494" y="1298448"/>
            <a:ext cx="417718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Grade Spread Re-referencing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72928" y="1645920"/>
            <a:ext cx="3823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65%+ Fe premium: marginally wider in absolute $ vs. old 62% basis (lower base). 58% Fe discount: marginally narrower. Both directional trends unchanged. Simandou (65.3% Fe) is now 4.3% above the new 61% benchmark.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71216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9443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the Benchmark Changed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3352" y="3218688"/>
            <a:ext cx="388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Pilbara ore grades have been declining for a decade. By 2025, the 62% Fe spec no longer reflected what was predominantly traded - PBF shipments tracked closer to 61% Fe. The shift reflects market reality.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2494" y="2871216"/>
            <a:ext cx="417718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BHP-CMRG + Benchmark Coincidence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2928" y="3218688"/>
            <a:ext cx="382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The benchmark shift (Jan 2, 2026) and BHP-CMRG dispute coincided. Jimblebar fines (62-63% Fe) traded at -10-11% discount to the new 61% Fe index during the ban vs. normal -7-8%. Quality-adjusted pricing became more complex.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 </a:t>
            </a:r>
            <a:endParaRPr lang="en-US" sz="7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402E6815-9291-4985-DDB5-420C0D4B7D0B}"/>
              </a:ext>
            </a:extLst>
          </p:cNvPr>
          <p:cNvSpPr/>
          <p:nvPr/>
        </p:nvSpPr>
        <p:spPr>
          <a:xfrm rot="2591063">
            <a:off x="4557665" y="3480424"/>
            <a:ext cx="302992" cy="301289"/>
          </a:xfrm>
          <a:prstGeom prst="rect">
            <a:avLst/>
          </a:prstGeom>
          <a:solidFill>
            <a:srgbClr val="92D050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CFF43E1-76DF-A6B5-EBFE-07938A9640A5}"/>
              </a:ext>
            </a:extLst>
          </p:cNvPr>
          <p:cNvSpPr/>
          <p:nvPr/>
        </p:nvSpPr>
        <p:spPr>
          <a:xfrm rot="2591063">
            <a:off x="4542621" y="1856463"/>
            <a:ext cx="302992" cy="301289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092CD452-26AD-5C41-6AAB-D85D368E910C}"/>
              </a:ext>
            </a:extLst>
          </p:cNvPr>
          <p:cNvSpPr/>
          <p:nvPr/>
        </p:nvSpPr>
        <p:spPr>
          <a:xfrm rot="2591063">
            <a:off x="87872" y="3378939"/>
            <a:ext cx="302992" cy="301289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rot="2591063">
            <a:off x="120011" y="1879323"/>
            <a:ext cx="302992" cy="301289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73736" y="196284"/>
            <a:ext cx="1234440" cy="232756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73736" y="196284"/>
            <a:ext cx="123444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| 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Seaborne Market Structure: Simandou Enters as 5th Major Exporter by 2030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180512" y="786384"/>
            <a:ext cx="1963487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80513" y="781812"/>
            <a:ext cx="50292" cy="84124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60920" y="841248"/>
            <a:ext cx="27636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~1.58 Bnt/yr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60920" y="1207008"/>
            <a:ext cx="2763606" cy="188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Seaborne trade 2024 base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66796" y="1792224"/>
            <a:ext cx="1977203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166797" y="1792224"/>
            <a:ext cx="50292" cy="841248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60920" y="1847088"/>
            <a:ext cx="27636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~6.7%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60920" y="2308860"/>
            <a:ext cx="170570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Simandou 2030E share 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(from &lt;0.2%)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160114" y="2798064"/>
            <a:ext cx="198388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166797" y="2798064"/>
            <a:ext cx="50292" cy="841248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360920" y="2852928"/>
            <a:ext cx="17897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177.5 Mt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6092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China port inventory Apr 2 2026 –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near-record price buffer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60114" y="3803904"/>
            <a:ext cx="1983886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160115" y="3816917"/>
            <a:ext cx="5029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60920" y="3858768"/>
            <a:ext cx="1783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-10 Mt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60920" y="4224528"/>
            <a:ext cx="17897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China seaborne imports drop expected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 2026 (~1.25 Bnt)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65760" y="4864608"/>
            <a:ext cx="847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978908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55146"/>
            <a:ext cx="7166797" cy="4319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83464" y="173736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28600" y="1645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| PRODUCERS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Top 10 Producer League: Verified from Primary Filings (</a:t>
            </a:r>
            <a:r>
              <a:rPr lang="en-US" sz="1450" b="1" dirty="0" err="1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256032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" y="7498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1417320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3464" y="7498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73352" y="749808"/>
            <a:ext cx="868680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00784" y="749808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Country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42032" y="749808"/>
            <a:ext cx="1078992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9464" y="7498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CY2025 Output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21024" y="749808"/>
            <a:ext cx="1078992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48456" y="7498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2026 Guidance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0016" y="749808"/>
            <a:ext cx="777240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27448" y="749808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C1 ($/t)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77256" y="749808"/>
            <a:ext cx="475488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04688" y="7498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52744" y="749808"/>
            <a:ext cx="3212876" cy="274320"/>
          </a:xfrm>
          <a:prstGeom prst="rect">
            <a:avLst/>
          </a:prstGeom>
          <a:solidFill>
            <a:srgbClr val="024CA1"/>
          </a:solidFill>
          <a:ln w="381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80176" y="749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 Verified Data Point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1033272"/>
            <a:ext cx="25603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" y="10332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1033272"/>
            <a:ext cx="1417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3464" y="10332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Rio Tinto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73352" y="1033272"/>
            <a:ext cx="868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700784" y="10332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Aus/Guinea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42032" y="10332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69464" y="10332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336.6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21024" y="10332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48456" y="10332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343-366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0016" y="1033272"/>
            <a:ext cx="777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27448" y="10332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~$24/wmt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77256" y="1033272"/>
            <a:ext cx="47548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504688" y="10332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52744" y="1033272"/>
            <a:ext cx="321287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980176" y="10332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Q1 2026: 78.8 Mt Pilbara (+13% YoY). SimFer Q1=0.6 Mt (100% basis). Cash cost guidance $23.5-25/wmt.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1490472"/>
            <a:ext cx="25603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" y="14904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1490472"/>
            <a:ext cx="141732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83464" y="14904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73352" y="1490472"/>
            <a:ext cx="86868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700784" y="14904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Brazil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42032" y="14904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569464" y="14904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336.1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21024" y="14904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648456" y="14904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335-345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0016" y="1490472"/>
            <a:ext cx="77724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27448" y="14904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$21.3/t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77256" y="1490472"/>
            <a:ext cx="475488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504688" y="14904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52744" y="1490472"/>
            <a:ext cx="3212876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980176" y="1490472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C1 $21.3/t explicitly stated in FY2025 6-K (SEC, Jan 28 2026). 7-yr high.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1947672"/>
            <a:ext cx="25603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7432" y="19476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1947672"/>
            <a:ext cx="1417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83464" y="19476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BHP (FY basis)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73352" y="1947672"/>
            <a:ext cx="868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700784" y="19476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Australia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42032" y="19476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569464" y="19476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~260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21024" y="19476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648456" y="19476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258-269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00016" y="1947672"/>
            <a:ext cx="777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727448" y="19476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~$18/t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477256" y="1947672"/>
            <a:ext cx="47548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504688" y="19476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952744" y="1947672"/>
            <a:ext cx="319125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980176" y="19476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290 Mt wet 100% basis (record). FY2026 guidance equity basis. BHP-CMRG ban lifting Apr'26.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0" y="2404872"/>
            <a:ext cx="25603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7432" y="24048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56032" y="2404872"/>
            <a:ext cx="141732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83464" y="24048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Fortescue (FY)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673352" y="2404872"/>
            <a:ext cx="86868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1700784" y="24048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Australia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42032" y="24048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569464" y="24048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198.4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21024" y="24048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648456" y="24048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195-205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00016" y="2404872"/>
            <a:ext cx="77724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727448" y="24048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$19.04/wmt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477256" y="2404872"/>
            <a:ext cx="475488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5504688" y="24048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952744" y="2404872"/>
            <a:ext cx="3191256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980176" y="24048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FY2025 +4% YoY. C1 $19.04/wmt stated H1 FY2026. Iron Bridge 67% Fe ramping.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0" y="2862072"/>
            <a:ext cx="25603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7432" y="28620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56032" y="2862072"/>
            <a:ext cx="141732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283464" y="28620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WCS/Baowu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673352" y="2862072"/>
            <a:ext cx="86868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700784" y="28620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Guinea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542032" y="2862072"/>
            <a:ext cx="107899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2569464" y="28620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~1.5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21024" y="2862072"/>
            <a:ext cx="107899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3648456" y="28620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~15-25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700016" y="2862072"/>
            <a:ext cx="77724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727448" y="28620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~$24*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477256" y="2862072"/>
            <a:ext cx="475488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5504688" y="28620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T1*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952744" y="2862072"/>
            <a:ext cx="319125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5980176" y="28620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shipper Dec 2 2025. Baowu 51% stake Jan 2026. WCS+SimFer combined = 25-35 Mt CY2026.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0" y="3319272"/>
            <a:ext cx="25603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27432" y="33192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56032" y="3319272"/>
            <a:ext cx="141732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283464" y="33192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SimFer (Rio)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673352" y="3319272"/>
            <a:ext cx="86868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1700784" y="33192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Guinea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542032" y="3319272"/>
            <a:ext cx="107899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69464" y="33192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~0.5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3621024" y="3319272"/>
            <a:ext cx="1078992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3648456" y="33192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5-10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700016" y="3319272"/>
            <a:ext cx="777240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727448" y="33192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~$25*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5477256" y="3319272"/>
            <a:ext cx="475488" cy="438912"/>
          </a:xfrm>
          <a:prstGeom prst="rect">
            <a:avLst/>
          </a:prstGeom>
          <a:solidFill>
            <a:srgbClr val="FFF5F5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5504688" y="33192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T1*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5952744" y="3319272"/>
            <a:ext cx="3191256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5980176" y="33192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Q1 2026 = 0.6 Mt 100% basis (Rio Q1 6-K Apr 21 2026). Rio guidance SimFer only.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0" y="3776472"/>
            <a:ext cx="25603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27432" y="37764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56032" y="3776472"/>
            <a:ext cx="1417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283464" y="37764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NMDC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1673352" y="3776472"/>
            <a:ext cx="8686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1700784" y="37764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2542032" y="37764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2569464" y="37764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53 (FY)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3621024" y="3776472"/>
            <a:ext cx="10789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648456" y="37764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53-56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4700016" y="3776472"/>
            <a:ext cx="777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27448" y="37764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~$32*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5477256" y="3776472"/>
            <a:ext cx="47548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5504688" y="37764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T2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952744" y="3776472"/>
            <a:ext cx="3191256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5980176" y="37764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Record prod. FY2026 +21% YoY (Apr 2026). Primarily captive domestic supply.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0" y="4233672"/>
            <a:ext cx="25603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27432" y="4233672"/>
            <a:ext cx="20116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256032" y="4233672"/>
            <a:ext cx="141732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283464" y="4233672"/>
            <a:ext cx="13624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ArcelorMittal Lib.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673352" y="4233672"/>
            <a:ext cx="86868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1700784" y="4233672"/>
            <a:ext cx="81381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Liberia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542032" y="42336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2569464" y="42336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~9.5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621024" y="4233672"/>
            <a:ext cx="1078992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3648456" y="4233672"/>
            <a:ext cx="102412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~18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4700016" y="4233672"/>
            <a:ext cx="777240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4727448" y="4233672"/>
            <a:ext cx="722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~$35*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5477256" y="4233672"/>
            <a:ext cx="475488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5504688" y="4233672"/>
            <a:ext cx="42062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T2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5952744" y="4233672"/>
            <a:ext cx="3191256" cy="438912"/>
          </a:xfrm>
          <a:prstGeom prst="rect">
            <a:avLst/>
          </a:prstGeom>
          <a:solidFill>
            <a:srgbClr val="EAF4FD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5980176" y="42336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Nimba expansion. 245% increase CY2024 →2026E. Net new seaborne supply.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256032" y="477316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* = Author proxy. FY = July-June. BHP/FMG on FY basis. Simandou T1* = structurally new seaborne supply.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 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85493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85493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| SIMANDOU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Simandou: Ramp Curve, Two-Block Structure &amp; CY2026 Working Estimate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6751827" cy="3986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02119" y="786384"/>
            <a:ext cx="234188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02119" y="786384"/>
            <a:ext cx="50292" cy="65836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11847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~3.3 Bnt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11847" y="1188720"/>
            <a:ext cx="21818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Reserves at ~65.3% Fe avg - highest-grade new seaborne entrant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802119" y="1581912"/>
            <a:ext cx="234188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802119" y="1581912"/>
            <a:ext cx="50292" cy="658368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911847" y="1636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25-35 </a:t>
            </a:r>
            <a:r>
              <a:rPr lang="en-US" b="1" dirty="0" err="1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</a:t>
            </a:r>
            <a:r>
              <a:rPr lang="en-US" sz="1800" b="1" dirty="0" err="1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11847" y="2030446"/>
            <a:ext cx="2232153" cy="173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Working CY2026 combined est. WCS+SimFer (not Rio's 5-10 Mt equity)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802119" y="2377440"/>
            <a:ext cx="234188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802119" y="2377440"/>
            <a:ext cx="50292" cy="658368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11847" y="24323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0.6 </a:t>
            </a:r>
            <a:r>
              <a:rPr lang="en-US" sz="1800" b="1" dirty="0" err="1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11847" y="2816352"/>
            <a:ext cx="22321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SimFer Q1 2026 actual (100% basis) per Rio Q1 6-K Apr 21 2026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02119" y="3172968"/>
            <a:ext cx="234188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802119" y="3172968"/>
            <a:ext cx="50292" cy="65836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11847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670 km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11847" y="3593592"/>
            <a:ext cx="211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TransGuinean railway - 12 stations, 200+ bridges, 4 tunnels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802119" y="3968496"/>
            <a:ext cx="234188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802119" y="3968496"/>
            <a:ext cx="5029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911847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65.3% Fe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11847" y="4370832"/>
            <a:ext cx="2161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 grade is 4.3% above new IODEX 61% Fe benchmark</a:t>
            </a:r>
            <a:endParaRPr lang="en-US" sz="850" b="1" dirty="0"/>
          </a:p>
        </p:txBody>
      </p:sp>
      <p:sp>
        <p:nvSpPr>
          <p:cNvPr id="27" name="Shape 24"/>
          <p:cNvSpPr/>
          <p:nvPr/>
        </p:nvSpPr>
        <p:spPr>
          <a:xfrm>
            <a:off x="210312" y="4645152"/>
            <a:ext cx="8631936" cy="320040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62890" y="4503420"/>
            <a:ext cx="502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65760" y="4645152"/>
            <a:ext cx="8476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CRITICAL: </a:t>
            </a:r>
            <a:r>
              <a:rPr lang="en-US" sz="850" dirty="0">
                <a:solidFill>
                  <a:schemeClr val="bg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Rio Tinto's "5-10 Mt" = SimFer equity share ONLY (Blocks 3&amp;4, ~53% stake). WCS (Blocks 1&amp;2, Baowu 51%) first shipped Dec 2, 2025 and is ramping FASTER. Combined CY2026 = 25-35 Mt. Using Rio's figure alone understates 2026 impact 3-4x.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 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8288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| SURPLUS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Gross vs. Net: The Most Important Analytical Discipline in Iron Ore Supply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21791"/>
            <a:ext cx="6896023" cy="41788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54375" y="786384"/>
            <a:ext cx="2189625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961630" y="786384"/>
            <a:ext cx="2189626" cy="329184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032170" y="813816"/>
            <a:ext cx="1764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Net ≠ Gross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90948" y="1272612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257140" y="1207008"/>
            <a:ext cx="18589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Replacement mine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57140" y="1463040"/>
            <a:ext cx="18589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mine offsets depleting pit at same operator. Net seaborne addition: ~ZERO.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090948" y="2150436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257140" y="2084832"/>
            <a:ext cx="18589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C262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Rio ~130 Mtpa programme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57140" y="2340864"/>
            <a:ext cx="18589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Western Range, West Angelas, Brockman Syncline 1 - all replacement. Maintain ~327 Mt Pilbara.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090948" y="302826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257140" y="2962656"/>
            <a:ext cx="18589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6A3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Genuine net additions CY2026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57140" y="3218688"/>
            <a:ext cx="18589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Simandou ~29 Mt + Vale ~15 Mt + Liberia ~12 Mt + Iron Bridge ~11 Mt = ~67 Mt.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090948" y="3906084"/>
            <a:ext cx="100584" cy="1005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257140" y="3840480"/>
            <a:ext cx="18589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770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overstatement risk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57140" y="4096512"/>
            <a:ext cx="18589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Counting Rio's replacement tranche as new supply overstates the surplus by ~100+ Mt nameplate.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4173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417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| SURPLUS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Cumulative Net New Seaborne Supply + The Inventory Buffer Mechanism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r="5939"/>
          <a:stretch>
            <a:fillRect/>
          </a:stretch>
        </p:blipFill>
        <p:spPr>
          <a:xfrm>
            <a:off x="0" y="628826"/>
            <a:ext cx="6667382" cy="3808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08762" y="786384"/>
            <a:ext cx="2079205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08762" y="786384"/>
            <a:ext cx="2079206" cy="329184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77574" y="813816"/>
            <a:ext cx="1818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2-Stage Price Transmission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14270" y="1188720"/>
            <a:ext cx="1882258" cy="1371600"/>
          </a:xfrm>
          <a:prstGeom prst="rect">
            <a:avLst/>
          </a:prstGeom>
          <a:solidFill>
            <a:srgbClr val="EAF4FD"/>
          </a:solidFill>
          <a:ln w="1016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914270" y="1188720"/>
            <a:ext cx="1882258" cy="274320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77574" y="1188720"/>
            <a:ext cx="17275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STAGE 1 —&gt; 2025-2027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77574" y="1508760"/>
            <a:ext cx="17275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Net new tonnes arrive (~67 Mt in CY2026). Port inventory at 177.5 Mt (Apr 2) absorbs arrivals. 6-12 month price discovery lag. CURRENTLY ACTIVE.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914270" y="2670048"/>
            <a:ext cx="1882257" cy="1371600"/>
          </a:xfrm>
          <a:prstGeom prst="rect">
            <a:avLst/>
          </a:prstGeom>
          <a:solidFill>
            <a:srgbClr val="FFF5F5"/>
          </a:solidFill>
          <a:ln w="1016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914270" y="2670048"/>
            <a:ext cx="1882258" cy="274320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977574" y="2752344"/>
            <a:ext cx="17275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STAGE 2 —&gt; 2027-2029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77574" y="2990088"/>
            <a:ext cx="17275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Inventory normalises toward 130-145 Mt. Price pressure becomes direct. Base case $75-82/dmt by 2030. The price reckoning.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" y="4411632"/>
            <a:ext cx="1682496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01752" y="4429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~67 Mt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01752" y="46859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Net new seaborne CY2026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029968" y="4411632"/>
            <a:ext cx="1682496" cy="54864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075688" y="4429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~185 Mt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075688" y="46859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Cumulative by 2028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803904" y="4411632"/>
            <a:ext cx="1682496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849624" y="442992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177.5 Mt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49624" y="46859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China port inventory Apr 2 2026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6002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600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 | COST CURVE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Proxy C1 Cash Cost Curve + Supply-at-Risk by Price Scenario (61% Fe IODEX)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21792"/>
            <a:ext cx="9129063" cy="36941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334256"/>
            <a:ext cx="27432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256032" y="4334256"/>
            <a:ext cx="502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47472" y="4352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$100/dmt CFR  ·  ~5-8% at risk  ·  ~80-130 Mt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7472" y="45537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China domestic marginal. All major seaborne exporters viable.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163824" y="4334256"/>
            <a:ext cx="2743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63824" y="4334256"/>
            <a:ext cx="502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55264" y="4352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$90/dmt CFR  ·  ~15-20% at risk  ·  ~240-320 Mt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55264" y="45537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Roy Hill, Kumba at margin. ArcelorMittal Liberia at margin during ramp.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071616" y="4334256"/>
            <a:ext cx="27432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071616" y="4334256"/>
            <a:ext cx="5029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63056" y="43525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$80/dmt CFR  ·  ~30-35% at risk  ·  ~480-560 Mt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63056" y="45537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Kumba/Roy Hill loss-making. NMDC exports uncompetitive. China domestic curtailed.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 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69164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691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 | INDIA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India: FY2026 = 310 </a:t>
            </a:r>
            <a:r>
              <a:rPr lang="en-US" sz="1450" b="1" dirty="0" err="1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output+ Mine Auction Linkage to Global Surplus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10760" y="786384"/>
            <a:ext cx="2233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61522" y="786384"/>
            <a:ext cx="50292" cy="841248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71250" y="841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310 </a:t>
            </a:r>
            <a:r>
              <a:rPr lang="en-US" sz="1800" b="1" dirty="0" err="1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71250" y="1243584"/>
            <a:ext cx="2172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 FY2026 actual (slower than steel production growth rate of 11% y-o-y, but still +7% YoY)</a:t>
            </a:r>
            <a:r>
              <a:rPr lang="en-US" sz="800" dirty="0"/>
              <a:t> </a:t>
            </a: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Apr 14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910760" y="1792224"/>
            <a:ext cx="2233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861522" y="1792224"/>
            <a:ext cx="50292" cy="84124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971250" y="1847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53 </a:t>
            </a:r>
            <a:r>
              <a:rPr lang="en-US" sz="1800" b="1" dirty="0" err="1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71250" y="2212848"/>
            <a:ext cx="2172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NMDC FY2026 actual (+21% YoY, record)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OMC: 40 </a:t>
            </a:r>
            <a:r>
              <a:rPr lang="en-US" sz="800" b="1" dirty="0" err="1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(+11%)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910760" y="2798064"/>
            <a:ext cx="2233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861522" y="2798064"/>
            <a:ext cx="50292" cy="841248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71250" y="2852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289 </a:t>
            </a:r>
            <a:r>
              <a:rPr lang="en-US" sz="1800" b="1" dirty="0" err="1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71250" y="3291840"/>
            <a:ext cx="21727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India FY2025 (May 2025)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FY2025 ≠ FY2026 - different years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910760" y="3803904"/>
            <a:ext cx="2233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861522" y="3803904"/>
            <a:ext cx="50292" cy="841248"/>
          </a:xfrm>
          <a:prstGeom prst="rect">
            <a:avLst/>
          </a:prstGeom>
          <a:solidFill>
            <a:srgbClr val="92D050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71250" y="3858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D05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300 </a:t>
            </a:r>
            <a:r>
              <a:rPr lang="en-US" sz="1800" b="1" dirty="0" err="1">
                <a:solidFill>
                  <a:srgbClr val="92D05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mnt</a:t>
            </a:r>
            <a:endParaRPr lang="en-US" sz="1800" dirty="0">
              <a:solidFill>
                <a:srgbClr val="92D050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71250" y="4297680"/>
            <a:ext cx="21727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Steel capacity target FY2030-31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Requires ~450-500 Mt ore supply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56032" y="4544568"/>
            <a:ext cx="8631936" cy="384048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256032" y="4544568"/>
            <a:ext cx="502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65760" y="4544568"/>
            <a:ext cx="847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Mine Auction Linkage: </a:t>
            </a:r>
            <a:r>
              <a:rPr lang="en-US" sz="850" dirty="0">
                <a:solidFill>
                  <a:srgbClr val="DDEE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Global surplus → Iron Ore fines index $75-82/dmt base case → import parity pressure → compression of IBM ASP auction mine economics → IRR sensitivity shifts at auctioned mines → future bid aggressiveness re-rates. Direct link to BigMint Mine Auction Economics study.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</a:t>
            </a:r>
            <a:endParaRPr lang="en-US" sz="7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73F967-403D-5AA0-1146-54B8867D5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887"/>
          <a:stretch>
            <a:fillRect/>
          </a:stretch>
        </p:blipFill>
        <p:spPr>
          <a:xfrm>
            <a:off x="0" y="633398"/>
            <a:ext cx="6802086" cy="265844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5D9AF5-E9D9-53F5-AC10-88CCAC3F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267"/>
          <a:stretch>
            <a:fillRect/>
          </a:stretch>
        </p:blipFill>
        <p:spPr>
          <a:xfrm>
            <a:off x="1127" y="3104388"/>
            <a:ext cx="6830677" cy="1440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4173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417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| PRICE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IODEX CFR China (61% Fe): Bear / Base / Bull Price Scenarios to 2030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52"/>
            <a:ext cx="5845126" cy="37256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04672"/>
            <a:ext cx="289864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89320" y="804672"/>
            <a:ext cx="2898648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80760" y="841248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BULL  ~20%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17043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~$90-100/dmt by 2030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80760" y="1499616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Simandou delayed · China stimulus · India absorbs · CMRG ban sustained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989320" y="2121408"/>
            <a:ext cx="2898648" cy="1170432"/>
          </a:xfrm>
          <a:custGeom>
            <a:avLst/>
            <a:gdLst>
              <a:gd name="csX0" fmla="*/ 0 w 2898648"/>
              <a:gd name="csY0" fmla="*/ 0 h 1170432"/>
              <a:gd name="csX1" fmla="*/ 2898648 w 2898648"/>
              <a:gd name="csY1" fmla="*/ 0 h 1170432"/>
              <a:gd name="csX2" fmla="*/ 2898648 w 2898648"/>
              <a:gd name="csY2" fmla="*/ 1170432 h 1170432"/>
              <a:gd name="csX3" fmla="*/ 0 w 2898648"/>
              <a:gd name="csY3" fmla="*/ 1170432 h 1170432"/>
              <a:gd name="csX4" fmla="*/ 0 w 2898648"/>
              <a:gd name="csY4" fmla="*/ 0 h 1170432"/>
              <a:gd name="csX0" fmla="*/ 0 w 2898648"/>
              <a:gd name="csY0" fmla="*/ 0 h 1170432"/>
              <a:gd name="csX1" fmla="*/ 2898648 w 2898648"/>
              <a:gd name="csY1" fmla="*/ 0 h 1170432"/>
              <a:gd name="csX2" fmla="*/ 2898648 w 2898648"/>
              <a:gd name="csY2" fmla="*/ 1170432 h 1170432"/>
              <a:gd name="csX3" fmla="*/ 0 w 2898648"/>
              <a:gd name="csY3" fmla="*/ 1170432 h 1170432"/>
              <a:gd name="csX4" fmla="*/ 0 w 2898648"/>
              <a:gd name="csY4" fmla="*/ 0 h 1170432"/>
              <a:gd name="csX0" fmla="*/ 0 w 2898648"/>
              <a:gd name="csY0" fmla="*/ 0 h 1170432"/>
              <a:gd name="csX1" fmla="*/ 2898648 w 2898648"/>
              <a:gd name="csY1" fmla="*/ 0 h 1170432"/>
              <a:gd name="csX2" fmla="*/ 2898648 w 2898648"/>
              <a:gd name="csY2" fmla="*/ 1170432 h 1170432"/>
              <a:gd name="csX3" fmla="*/ 0 w 2898648"/>
              <a:gd name="csY3" fmla="*/ 1170432 h 1170432"/>
              <a:gd name="csX4" fmla="*/ 0 w 2898648"/>
              <a:gd name="csY4" fmla="*/ 0 h 1170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98648" h="1170432">
                <a:moveTo>
                  <a:pt x="0" y="0"/>
                </a:moveTo>
                <a:lnTo>
                  <a:pt x="2898648" y="0"/>
                </a:lnTo>
                <a:lnTo>
                  <a:pt x="2898648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A2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989320" y="2121408"/>
            <a:ext cx="2898648" cy="329184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80760" y="215798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  ~60%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2487168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2D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~$75-82/dmt by 2030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80760" y="2816352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Simandou on schedule · China flat to -1% · India +8-12% · Inventory normalises 2027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89320" y="3438144"/>
            <a:ext cx="289864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373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989320" y="3438144"/>
            <a:ext cx="2898648" cy="329184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080760" y="34747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BEAR  ~20%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3803904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37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~$65-72/dmt by 2030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080760" y="4133088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latin typeface="Archivo" pitchFamily="34" charset="0"/>
                <a:ea typeface="Archivo" pitchFamily="34" charset="-122"/>
                <a:cs typeface="Archivo" pitchFamily="34" charset="-120"/>
              </a:rPr>
              <a:t>Both Simandou blocks front-load · China -3%+ · Scrap accelerates · Port stocks persist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56032" y="4416552"/>
            <a:ext cx="5532120" cy="457200"/>
          </a:xfrm>
          <a:prstGeom prst="rect">
            <a:avLst/>
          </a:prstGeom>
          <a:solidFill>
            <a:srgbClr val="EAF4FD"/>
          </a:solidFill>
          <a:ln w="635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47472" y="44165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4CA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61% Fe basis note: </a:t>
            </a:r>
            <a:r>
              <a:rPr lang="en-US" sz="800" dirty="0">
                <a:solidFill>
                  <a:srgbClr val="1E2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Q1 2026 IODEX range: $88-109/dmt (Jan low to Mar BHP-CMRG Newman ban spike). Transitional 61/62% spread ~$1.5-2/t through Dec 2027. Scenario ranges supply-conditional.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 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73736" y="1783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73736" y="1783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 | PRICE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Grade Bifurcation: DR-Grade Resilient; 58% Fe Discount Widens Structurally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49808"/>
            <a:ext cx="8631936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663440"/>
            <a:ext cx="4224528" cy="237744"/>
          </a:xfrm>
          <a:prstGeom prst="rect">
            <a:avLst/>
          </a:prstGeom>
          <a:solidFill>
            <a:srgbClr val="00A2DF"/>
          </a:solidFill>
          <a:ln w="12700">
            <a:solidFill>
              <a:srgbClr val="00A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47472" y="466344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65%+ Fe: Simandou 65.3% Fe is 4.3% above the new 61% Fe benchmark. DRI/EAF buildout supports demand. Premium compresses from ~$9/t to ~$5-7/t by 2030 as Simandou scales.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63440" y="4663440"/>
            <a:ext cx="4224528" cy="237744"/>
          </a:xfrm>
          <a:prstGeom prst="rect">
            <a:avLst/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754880" y="466344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58% Fe: Discount widens from ~$7/t to ~$13-16/t by 2030. Mills prefer grade under carbon constraints. Indian BF operators and China domestic ore are most exposed.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 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28600" y="18499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D3733"/>
          </a:solidFill>
          <a:ln w="12700">
            <a:solidFill>
              <a:srgbClr val="ED3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849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LIVE CONTEXT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1912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BHP-CMRG Dispute + China Port Inventory: Two Gaps in Most 2026 Outlooks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675249"/>
            <a:ext cx="8631936" cy="39389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14202"/>
            <a:ext cx="9144000" cy="469861"/>
          </a:xfrm>
          <a:prstGeom prst="rect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365760" y="4614203"/>
            <a:ext cx="8476488" cy="469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Key insight: </a:t>
            </a:r>
            <a:r>
              <a:rPr lang="en-US" sz="850" dirty="0">
                <a:solidFill>
                  <a:srgbClr val="DDEE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177.5 Mt port inventory (Apr 2 2026, Mysteel) = ~45 days import cover = primary price cap. New seaborne arrivals fill this buffer before price discovery resets. BHP-CMRG ban (lifting Apr'26) adds $5-10/t near-term upside. Both effects absent from most 2026 supply outlooks.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286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CC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Market Intelligence  |  Iron Ore 2030: The Supply Wave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9D91BF3-5586-DDE7-840C-EC92F1911FB2}"/>
              </a:ext>
            </a:extLst>
          </p:cNvPr>
          <p:cNvSpPr/>
          <p:nvPr/>
        </p:nvSpPr>
        <p:spPr>
          <a:xfrm>
            <a:off x="0" y="621792"/>
            <a:ext cx="9144000" cy="43616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Key Conclusions - Iron Ore 2030: The Supply Wave</a:t>
            </a:r>
            <a:endParaRPr lang="en-US" sz="16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Market Intelligence  |  April 2026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8631936" cy="676656"/>
          </a:xfrm>
          <a:prstGeom prst="rect">
            <a:avLst/>
          </a:prstGeom>
          <a:solidFill>
            <a:schemeClr val="bg1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50292" cy="676656"/>
          </a:xfrm>
          <a:prstGeom prst="rect">
            <a:avLst/>
          </a:prstGeom>
          <a:solidFill>
            <a:srgbClr val="F67F77"/>
          </a:solidFill>
          <a:ln w="12700">
            <a:solidFill>
              <a:srgbClr val="F67F77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7F77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1.  Index is now 61% Fe (from Jan 2, 2026)</a:t>
            </a:r>
            <a:endParaRPr lang="en-US" sz="10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0607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latin typeface="Archivo" pitchFamily="2" charset="0"/>
                <a:ea typeface="Archivo" pitchFamily="34" charset="-122"/>
                <a:cs typeface="Archivo" pitchFamily="2" charset="0"/>
              </a:rPr>
              <a:t>All 2026+ price references on 61% Fe basis. Transitional 61/62% spread ~$1.5-2/t through Dec 2027. Scenario ranges unchanged - the basis difference is not material at a 5-year horizon.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1554480"/>
            <a:ext cx="8631936" cy="676656"/>
          </a:xfrm>
          <a:prstGeom prst="rect">
            <a:avLst/>
          </a:prstGeom>
          <a:solidFill>
            <a:schemeClr val="bg1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" y="1554480"/>
            <a:ext cx="50292" cy="676656"/>
          </a:xfrm>
          <a:prstGeom prst="rect">
            <a:avLst/>
          </a:prstGeom>
          <a:solidFill>
            <a:srgbClr val="54C4F2"/>
          </a:solidFill>
          <a:ln w="12700">
            <a:solidFill>
              <a:srgbClr val="54C4F2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2.  The surplus is structural around ~67 </a:t>
            </a:r>
            <a:r>
              <a:rPr lang="en-US" sz="1000" b="1" dirty="0" err="1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mnt</a:t>
            </a:r>
            <a:r>
              <a:rPr lang="en-US" sz="1000" b="1" dirty="0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 net new seaborne in CY2026 alone</a:t>
            </a:r>
            <a:endParaRPr lang="en-US" sz="10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latin typeface="Archivo" pitchFamily="2" charset="0"/>
                <a:ea typeface="Archivo" pitchFamily="34" charset="-122"/>
                <a:cs typeface="Archivo" pitchFamily="2" charset="0"/>
              </a:rPr>
              <a:t>Multiple independent supply sources arrive concurrently into plateauing demand. China steel output fell 4.4% in 2025. 177.5 Mt port inventory means Stage 1 is a buffer phase; Stage 2 is the price reckoning.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2359152"/>
            <a:ext cx="8631936" cy="676656"/>
          </a:xfrm>
          <a:prstGeom prst="rect">
            <a:avLst/>
          </a:prstGeom>
          <a:solidFill>
            <a:schemeClr val="bg1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032" y="2359152"/>
            <a:ext cx="50292" cy="676656"/>
          </a:xfrm>
          <a:prstGeom prst="rect">
            <a:avLst/>
          </a:prstGeom>
          <a:solidFill>
            <a:srgbClr val="F67F77"/>
          </a:solidFill>
          <a:ln w="12700">
            <a:solidFill>
              <a:srgbClr val="F67F77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2395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7F77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3.  Simandou CY2026 = 25-35 Mt combined (NOT 5-10 Mt)</a:t>
            </a:r>
            <a:endParaRPr lang="en-US" sz="10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latin typeface="Archivo" pitchFamily="2" charset="0"/>
                <a:ea typeface="Archivo" pitchFamily="34" charset="-122"/>
                <a:cs typeface="Archivo" pitchFamily="2" charset="0"/>
              </a:rPr>
              <a:t>Rio's 5-10 Mt = SimFer equity only. WCS (Baowu 51%) ramping faster, adds ~22 Mt. Combined working estimate 25-35 Mt (mid 29 Mt). Using Rio's figure understates 2026 impact 3-4x.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3163824"/>
            <a:ext cx="8631936" cy="676656"/>
          </a:xfrm>
          <a:prstGeom prst="rect">
            <a:avLst/>
          </a:prstGeom>
          <a:solidFill>
            <a:schemeClr val="bg1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3163824"/>
            <a:ext cx="50292" cy="676656"/>
          </a:xfrm>
          <a:prstGeom prst="rect">
            <a:avLst/>
          </a:prstGeom>
          <a:solidFill>
            <a:srgbClr val="54C4F2"/>
          </a:solidFill>
          <a:ln w="12700">
            <a:solidFill>
              <a:srgbClr val="54C4F2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4.  India FY2026 = 310 </a:t>
            </a:r>
            <a:r>
              <a:rPr lang="en-US" sz="1000" b="1" dirty="0" err="1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mnt</a:t>
            </a:r>
            <a:r>
              <a:rPr lang="en-US" sz="1000" b="1" dirty="0">
                <a:solidFill>
                  <a:srgbClr val="54C4F2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 output</a:t>
            </a:r>
            <a:endParaRPr lang="en-US" sz="10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latin typeface="Archivo" pitchFamily="2" charset="0"/>
                <a:ea typeface="Archivo" pitchFamily="34" charset="-122"/>
                <a:cs typeface="Archivo" pitchFamily="2" charset="0"/>
              </a:rPr>
              <a:t>FY2025 = 289 Mt; FY2026 = 310 Mt (+7% YoY). NMDC = 53 Mt (+21%). Different fiscal years; do not conflate.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3968496"/>
            <a:ext cx="8631936" cy="676656"/>
          </a:xfrm>
          <a:prstGeom prst="rect">
            <a:avLst/>
          </a:prstGeom>
          <a:solidFill>
            <a:schemeClr val="bg1"/>
          </a:solidFill>
          <a:ln w="635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" y="3968496"/>
            <a:ext cx="50292" cy="676656"/>
          </a:xfrm>
          <a:prstGeom prst="rect">
            <a:avLst/>
          </a:prstGeom>
          <a:solidFill>
            <a:srgbClr val="F67F77"/>
          </a:solidFill>
          <a:ln w="12700">
            <a:solidFill>
              <a:srgbClr val="F67F77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7F77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5.  Base case IODEX $75-82/dmt by 2030; grade bifurcation the key strategic variable</a:t>
            </a:r>
            <a:endParaRPr lang="en-US" sz="10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42793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latin typeface="Archivo" pitchFamily="2" charset="0"/>
                <a:ea typeface="Archivo" pitchFamily="34" charset="-122"/>
                <a:cs typeface="Archivo" pitchFamily="2" charset="0"/>
              </a:rPr>
              <a:t>DR-grade (65%+ Fe) compresses from top but supported by DRI/EAF demand. 58% Fe discount widens to $13-16/t. India mine auction IRR sensitivity directly linked to this seaborne price trajectory.</a:t>
            </a:r>
            <a:endParaRPr lang="en-US" sz="900" dirty="0">
              <a:latin typeface="Archivo" pitchFamily="2" charset="0"/>
              <a:cs typeface="Archivo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4CA1"/>
          </a:solidFill>
          <a:ln w="12700">
            <a:solidFill>
              <a:srgbClr val="024CA1"/>
            </a:solidFill>
            <a:prstDash val="solid"/>
          </a:ln>
        </p:spPr>
        <p:txBody>
          <a:bodyPr/>
          <a:lstStyle/>
          <a:p>
            <a:endParaRPr lang="en-IN">
              <a:latin typeface="Archivo" pitchFamily="2" charset="0"/>
              <a:cs typeface="Archivo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CCEE"/>
                </a:solidFill>
                <a:latin typeface="Archivo" pitchFamily="2" charset="0"/>
                <a:ea typeface="Archivo" pitchFamily="34" charset="-122"/>
                <a:cs typeface="Archivo" pitchFamily="2" charset="0"/>
              </a:rPr>
              <a:t>Market Intelligence  |  Iron Ore Supply Outlook 2030  |  April 2026 </a:t>
            </a:r>
            <a:endParaRPr lang="en-US" sz="750" dirty="0">
              <a:latin typeface="Archivo" pitchFamily="2" charset="0"/>
              <a:cs typeface="Archivo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4302</TotalTime>
  <Words>2200</Words>
  <Application>Microsoft Office PowerPoint</Application>
  <PresentationFormat>On-screen Show (16:9)</PresentationFormat>
  <Paragraphs>238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Archivo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 Ore 2030: The Supply Wave — BigMint Market Intelligence</dc:title>
  <dc:subject>PptxGenJS Presentation</dc:subject>
  <dc:creator>PptxGenJS</dc:creator>
  <cp:lastModifiedBy>Adarsh Sahu</cp:lastModifiedBy>
  <cp:revision>64</cp:revision>
  <dcterms:created xsi:type="dcterms:W3CDTF">2026-06-04T14:46:15Z</dcterms:created>
  <dcterms:modified xsi:type="dcterms:W3CDTF">2026-06-10T18:41:08Z</dcterms:modified>
</cp:coreProperties>
</file>